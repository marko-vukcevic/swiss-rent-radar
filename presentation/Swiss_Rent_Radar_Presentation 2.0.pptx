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4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6454F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36454F"/>
                </a:solidFill>
                <a:latin typeface="Georgia"/>
              </a:rPr>
              <a:t>Mean price per m² by canton (CHF)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CHF / m²</c:v>
                </c:pt>
              </c:strCache>
            </c:strRef>
          </c:tx>
          <c:spPr>
            <a:solidFill>
              <a:srgbClr val="99001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6454F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ZG</c:v>
                </c:pt>
                <c:pt idx="1">
                  <c:v>GE</c:v>
                </c:pt>
                <c:pt idx="2">
                  <c:v>ZH</c:v>
                </c:pt>
                <c:pt idx="3">
                  <c:v>BS</c:v>
                </c:pt>
                <c:pt idx="4">
                  <c:v>VD</c:v>
                </c:pt>
                <c:pt idx="5">
                  <c:v>LU</c:v>
                </c:pt>
                <c:pt idx="6">
                  <c:v>SZ</c:v>
                </c:pt>
                <c:pt idx="7">
                  <c:v>BE</c:v>
                </c:pt>
                <c:pt idx="8">
                  <c:v>JU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26.94</c:v>
                </c:pt>
                <c:pt idx="1">
                  <c:v>26.9</c:v>
                </c:pt>
                <c:pt idx="2">
                  <c:v>23.77</c:v>
                </c:pt>
                <c:pt idx="3">
                  <c:v>22.73</c:v>
                </c:pt>
                <c:pt idx="4">
                  <c:v>21.43</c:v>
                </c:pt>
                <c:pt idx="5">
                  <c:v>19.2</c:v>
                </c:pt>
                <c:pt idx="6">
                  <c:v>20.100000000000001</c:v>
                </c:pt>
                <c:pt idx="7">
                  <c:v>17.100000000000001</c:v>
                </c:pt>
                <c:pt idx="8">
                  <c:v>11.48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BF-4E02-9CE5-9164C23551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CF6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448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2194560"/>
            <a:ext cx="1645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Shape 1"/>
          <p:cNvSpPr/>
          <p:nvPr/>
        </p:nvSpPr>
        <p:spPr>
          <a:xfrm>
            <a:off x="10104120" y="1600200"/>
            <a:ext cx="457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Swiss Rent Radar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291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of Swiss Rental Prices — Combining Official BFS Statistics with Live Listings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4297680"/>
            <a:ext cx="13716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Kermo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Aladin</a:t>
            </a:r>
            <a:endParaRPr lang="en-US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Vukcevic Marko</a:t>
            </a:r>
            <a:endParaRPr lang="en-US" dirty="0"/>
          </a:p>
          <a:p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Programming · FS2026 · ZHAW Wirtschaftsinformatik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36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Motivation &amp; research question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rent in Switzerland matters and what we aim to answer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02920" cy="5029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176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4414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BFS reference + live Homegate listings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8163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 &amp; pipeline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08152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Scraping, regex, pandas, SQLite, OOP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Text 15"/>
          <p:cNvSpPr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4564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results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7216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Pearson, t-test, ANOVA — all with p-values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502920" cy="5029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0965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Visualisations &amp; web app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36168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folium choropleth, Streamlit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5" name="Text 23"/>
          <p:cNvSpPr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7365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market commentary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0017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Together.ai Mistral 7B over our data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5394960"/>
            <a:ext cx="502920" cy="5029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Text 27"/>
          <p:cNvSpPr/>
          <p:nvPr/>
        </p:nvSpPr>
        <p:spPr>
          <a:xfrm>
            <a:off x="640080" y="5394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71600" y="53766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limitations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564184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found, what we'd do next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3" name="Text 31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Rent Radar  ·  Scientific Programming FS2026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601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rent? Why now?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29184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/ m²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2148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expensive: Genève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11.6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291840" y="3063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/ m²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3520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cheapest: Jura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3891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2.3×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3291840" y="4434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48920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richest and poorest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1645920"/>
            <a:ext cx="4937760" cy="384048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2"/>
          <p:cNvSpPr/>
          <p:nvPr/>
        </p:nvSpPr>
        <p:spPr>
          <a:xfrm>
            <a:off x="6583680" y="1645920"/>
            <a:ext cx="91440" cy="38404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685800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0" y="228600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i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structural and geographic factors most strongly explain rent differences in Switzerland — and where do live Homegate asking prices systematically diverge from the BFS reference?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Rent Radar  ·  Scientific Programming FS2026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601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complementary data sources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12080" cy="411480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91440" cy="411480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opendata.swiss / BFS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Statistical Office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rent per canton (4-room flats)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price per m²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Cantonal population (weighting)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cantons · annual reference figures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212080" cy="411480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6309360" y="1645920"/>
            <a:ext cx="91440" cy="41148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6583680" y="1828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Homegate.ch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28346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apartment listings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from __NEXT_DATA__ JSON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 + lxml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 rate-limit (1 req/sec)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fallback for reproducibility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lets us measure where current asking prices deviate from the official mean.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Rent Radar  ·  Scientific Programming FS2026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0" y="6601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pipeline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828800" cy="237744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82880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API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Homegate scrape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3017520"/>
            <a:ext cx="118872" cy="0"/>
          </a:xfrm>
          <a:prstGeom prst="line">
            <a:avLst/>
          </a:prstGeom>
          <a:noFill/>
          <a:ln w="254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2404872" y="1828800"/>
            <a:ext cx="1828800" cy="237744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2404872" y="1828800"/>
            <a:ext cx="182880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2404872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04872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96312" y="31089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parsers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to numbers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33672" y="3017520"/>
            <a:ext cx="118872" cy="0"/>
          </a:xfrm>
          <a:prstGeom prst="line">
            <a:avLst/>
          </a:prstGeom>
          <a:noFill/>
          <a:ln w="254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6" name="Shape 14"/>
          <p:cNvSpPr/>
          <p:nvPr/>
        </p:nvSpPr>
        <p:spPr>
          <a:xfrm>
            <a:off x="4352544" y="1828800"/>
            <a:ext cx="1828800" cy="237744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4352544" y="1828800"/>
            <a:ext cx="182880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4352544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352544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43984" y="31089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indexes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81344" y="3017520"/>
            <a:ext cx="118872" cy="0"/>
          </a:xfrm>
          <a:prstGeom prst="line">
            <a:avLst/>
          </a:prstGeom>
          <a:noFill/>
          <a:ln w="254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Shape 20"/>
          <p:cNvSpPr/>
          <p:nvPr/>
        </p:nvSpPr>
        <p:spPr>
          <a:xfrm>
            <a:off x="6300216" y="1828800"/>
            <a:ext cx="1828800" cy="237744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3" name="Shape 21"/>
          <p:cNvSpPr/>
          <p:nvPr/>
        </p:nvSpPr>
        <p:spPr>
          <a:xfrm>
            <a:off x="6300216" y="1828800"/>
            <a:ext cx="182880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4" name="Text 22"/>
          <p:cNvSpPr/>
          <p:nvPr/>
        </p:nvSpPr>
        <p:spPr>
          <a:xfrm>
            <a:off x="6300216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300216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91656" y="31089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· t-test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(p-values)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29016" y="3017520"/>
            <a:ext cx="118872" cy="0"/>
          </a:xfrm>
          <a:prstGeom prst="line">
            <a:avLst/>
          </a:prstGeom>
          <a:noFill/>
          <a:ln w="254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8" name="Shape 26"/>
          <p:cNvSpPr/>
          <p:nvPr/>
        </p:nvSpPr>
        <p:spPr>
          <a:xfrm>
            <a:off x="8247888" y="1828800"/>
            <a:ext cx="1828800" cy="237744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9" name="Shape 27"/>
          <p:cNvSpPr/>
          <p:nvPr/>
        </p:nvSpPr>
        <p:spPr>
          <a:xfrm>
            <a:off x="8247888" y="1828800"/>
            <a:ext cx="182880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0" name="Text 28"/>
          <p:cNvSpPr/>
          <p:nvPr/>
        </p:nvSpPr>
        <p:spPr>
          <a:xfrm>
            <a:off x="8247888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8247888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339328" y="31089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folium choropleth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076688" y="3017520"/>
            <a:ext cx="118872" cy="0"/>
          </a:xfrm>
          <a:prstGeom prst="line">
            <a:avLst/>
          </a:prstGeom>
          <a:noFill/>
          <a:ln w="254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4" name="Shape 32"/>
          <p:cNvSpPr/>
          <p:nvPr/>
        </p:nvSpPr>
        <p:spPr>
          <a:xfrm>
            <a:off x="10195560" y="1828800"/>
            <a:ext cx="1828800" cy="237744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5" name="Shape 33"/>
          <p:cNvSpPr/>
          <p:nvPr/>
        </p:nvSpPr>
        <p:spPr>
          <a:xfrm>
            <a:off x="10195560" y="1828800"/>
            <a:ext cx="1828800" cy="7315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6" name="Text 34"/>
          <p:cNvSpPr/>
          <p:nvPr/>
        </p:nvSpPr>
        <p:spPr>
          <a:xfrm>
            <a:off x="1019556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900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10195560" y="2606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287000" y="310896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LLM commentary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" y="4846320"/>
            <a:ext cx="10881360" cy="1371600"/>
          </a:xfrm>
          <a:prstGeom prst="rect">
            <a:avLst/>
          </a:prstGeom>
          <a:solidFill>
            <a:srgbClr val="F4F1EF"/>
          </a:solidFill>
          <a:ln w="12700">
            <a:solidFill>
              <a:srgbClr val="F4F1E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0" name="Text 38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parsing (bonus #2 + minimum #2)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" y="5349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"CHF 2'500.–"  →  2500.0      "3.5 Zimmer"  →  3.5      "85 m²"  →  85.0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patterns reused across rows · Swiss thousands separator handled · None on parse failure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44" name="Text 42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Rent Radar  ·  Scientific Programming FS2026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972800" y="6601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 database with reusable SQL queries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#3 — database + SQL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029200" cy="429768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46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canton_stats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canton (PK), name, mean_rent_4room,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mean_rent_per_m2, population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</a:rPr>
              <a:t> 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listings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listing_id (PK), canton (FK),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rooms, living_space_m2, rent_chf,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price_per_m2, is_urban, lat, lng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5577840" cy="4297680"/>
          </a:xfrm>
          <a:prstGeom prst="rect">
            <a:avLst/>
          </a:prstGeom>
          <a:solidFill>
            <a:srgbClr val="1E2937"/>
          </a:solidFill>
          <a:ln w="12700">
            <a:solidFill>
              <a:srgbClr val="1E2937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6126480" y="1828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query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2286000"/>
            <a:ext cx="53035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l.canton, cs.canton_name,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(*) AS n_listings,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(l.rent_chf), 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AS avg_rent_chf,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(l.price_per_m2), 2)
         AS avg_price_per_m2
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listings AS l
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canton_stats AS cs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cs.canton = l.canton
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l.canton, cs.canton_name
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avg_price_per_m2 </a:t>
            </a:r>
            <a:r>
              <a:rPr lang="en-US" sz="12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Rent Radar  ·  Scientific Programming FS2026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601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statistical tests — all reject H₀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p-values ≪ 0.05 at α = 0.05 significance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91440" cy="12801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5"/>
          <p:cNvSpPr/>
          <p:nvPr/>
        </p:nvSpPr>
        <p:spPr>
          <a:xfrm>
            <a:off x="91440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Rent vs. living space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linear relationship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0" y="19659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0.799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6968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900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4.0 × 10⁻¹⁴⁵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10881360" cy="128016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91440" cy="1280160"/>
          </a:xfrm>
          <a:prstGeom prst="rect">
            <a:avLst/>
          </a:prstGeom>
          <a:solidFill>
            <a:srgbClr val="2F3C7E"/>
          </a:solidFill>
          <a:ln w="12700">
            <a:solidFill>
              <a:srgbClr val="2F3C7E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91440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474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Price/m² urban vs. rural cantons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1.21 — large urban premium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33832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11.55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69680" y="3383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3C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4.7 × 10⁻²³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0080" y="4526280"/>
            <a:ext cx="10881360" cy="128016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91440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1" name="Text 19"/>
          <p:cNvSpPr/>
          <p:nvPr/>
        </p:nvSpPr>
        <p:spPr>
          <a:xfrm>
            <a:off x="91440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ANOVA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Price/m² across 26 cantons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η² = 0.62 — canton membership matters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4800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64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40.10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869680" y="4800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= 2.6 × 10⁻¹¹²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7" name="Text 25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Rent Radar  ·  Scientific Programming FS2026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601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Visualising the Swiss rental landscape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554480"/>
          <a:ext cx="59436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691640"/>
            <a:ext cx="4663440" cy="82296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Shape 3"/>
          <p:cNvSpPr/>
          <p:nvPr/>
        </p:nvSpPr>
        <p:spPr>
          <a:xfrm>
            <a:off x="6858000" y="1691640"/>
            <a:ext cx="73152" cy="8229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7" name="Text 4"/>
          <p:cNvSpPr/>
          <p:nvPr/>
        </p:nvSpPr>
        <p:spPr>
          <a:xfrm>
            <a:off x="7040880" y="17647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folium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40880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map: 650+ markers, colour-graded by price/m²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0" y="2651760"/>
            <a:ext cx="4663440" cy="82296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Shape 7"/>
          <p:cNvSpPr/>
          <p:nvPr/>
        </p:nvSpPr>
        <p:spPr>
          <a:xfrm>
            <a:off x="6858000" y="2651760"/>
            <a:ext cx="73152" cy="8229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1" name="Text 8"/>
          <p:cNvSpPr/>
          <p:nvPr/>
        </p:nvSpPr>
        <p:spPr>
          <a:xfrm>
            <a:off x="7040880" y="27249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choropleth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4088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canton-level heat map of mean rent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0" y="3611880"/>
            <a:ext cx="4663440" cy="82296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Shape 11"/>
          <p:cNvSpPr/>
          <p:nvPr/>
        </p:nvSpPr>
        <p:spPr>
          <a:xfrm>
            <a:off x="6858000" y="3611880"/>
            <a:ext cx="73152" cy="8229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2"/>
          <p:cNvSpPr/>
          <p:nvPr/>
        </p:nvSpPr>
        <p:spPr>
          <a:xfrm>
            <a:off x="7040880" y="36850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matplotlib + seaborn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040880" y="4023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scatter, boxplot, violin, histogram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858000" y="4572000"/>
            <a:ext cx="4663440" cy="82296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Shape 15"/>
          <p:cNvSpPr/>
          <p:nvPr/>
        </p:nvSpPr>
        <p:spPr>
          <a:xfrm>
            <a:off x="6858000" y="4572000"/>
            <a:ext cx="73152" cy="82296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9" name="Text 16"/>
          <p:cNvSpPr/>
          <p:nvPr/>
        </p:nvSpPr>
        <p:spPr>
          <a:xfrm>
            <a:off x="7040880" y="46451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40880" y="4983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charts, interactive in the browser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19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Rent Radar  ·  Scientific Programming FS2026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972800" y="6601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web app + LLM market commentary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kern="0" spc="30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#4 (LLM) + bonus #5 (web app)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029200" cy="438912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dashboard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canton · rooms · price · data source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 KPIs computed live from filtered data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for each angle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overview · stats · map · LLM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SQL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every chart re-runs the SQLite query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folium map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HTML rendered inside the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5577840" cy="4389120"/>
          </a:xfrm>
          <a:prstGeom prst="rect">
            <a:avLst/>
          </a:prstGeom>
          <a:solidFill>
            <a:srgbClr val="F4F1EF"/>
          </a:solidFill>
          <a:ln w="12700">
            <a:solidFill>
              <a:srgbClr val="F4F1EF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7"/>
          <p:cNvSpPr/>
          <p:nvPr/>
        </p:nvSpPr>
        <p:spPr>
          <a:xfrm>
            <a:off x="6126480" y="1874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commentary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12648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Together.ai · Mistral 7B Instruct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2743200"/>
            <a:ext cx="5212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tables (not raw rows) are sent to the LLM as a structured prompt with explicit instructions: highlight the most/least expensive cantons, the room–rent relation, the urban–rural gap, plus one renter-takeaway sentence.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TOGETHER_API_KEY is missing, the helper returns a deterministic offline summary so the demo always runs.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Text 11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Rent Radar  ·  Scientific Programming FS2026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601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86868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91440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Size is king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02336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0.80 — living space alone explains most of the rent variance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10881360" cy="86868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91440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914400" y="2651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Cantons matter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02336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reveals strong cross-canton differences (η² = 0.62)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66160"/>
            <a:ext cx="10881360" cy="86868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3" name="Shape 11"/>
          <p:cNvSpPr/>
          <p:nvPr/>
        </p:nvSpPr>
        <p:spPr>
          <a:xfrm>
            <a:off x="640080" y="3566160"/>
            <a:ext cx="91440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Urban premium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02336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 t-test: urban CHF 22.3/m² vs. rural CHF 16.3/m² (d = 1.21)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10881360" cy="86868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7" name="Shape 15"/>
          <p:cNvSpPr/>
          <p:nvPr/>
        </p:nvSpPr>
        <p:spPr>
          <a:xfrm>
            <a:off x="640080" y="4572000"/>
            <a:ext cx="91440" cy="86868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Listings ≈ BFS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023360" y="46634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asking prices broadly align with the official mean — but with non-trivial dispersion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</a:t>
            </a: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reference is annual and lagging · Homegate snapshot biases toward what is currently available · canton-level analysis hides commune-level variation.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22" name="Text 20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Rent Radar  ·  Scientific Programming FS2026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601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— minimum requirements (8 pts)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881360" cy="45262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in the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app/api_client.py · app/scraper.py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preparation (regex)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app/data_cleaning.py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structures + pandas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Throughout — notebooks 1–3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Conditionals + loops + break/continue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scraper.py, data_cleaning.py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 and 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pipeline + app/models.py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Tables + visualisations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app/visualization.py · notebook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Statistical analysis with 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app/analysis.py — 3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8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on Moodle /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github.com/Marko-Vukcevic/swiss-rent-radar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6" name="Text 3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Rent Radar  ·  Scientific Programming FS2026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0" y="6601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— bonus points (6 pts)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35204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in the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+ scrape combo · choropleth · LLM commentary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scraper /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scraper.py (BeautifulSoup) + api_client.py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+ 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app/database.py · 4 reusable queries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app/llm_helper.py — Together.ai Mistral 7B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app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app/streamlit_app.py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90011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github.com/Marko-Vukcevic/swiss-rent-radar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212080"/>
            <a:ext cx="12161520" cy="137160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  <p:txBody>
          <a:bodyPr/>
          <a:lstStyle/>
          <a:p>
            <a:endParaRPr lang="de-CH" dirty="0"/>
          </a:p>
        </p:txBody>
      </p:sp>
      <p:sp>
        <p:nvSpPr>
          <p:cNvPr id="6" name="Text 3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· Questions?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github.com/Marko-Vukcevic/swiss-rent-radar  ·  Kermo Aladin &amp; Vukcevic Marko 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CF6F5"/>
          </a:solidFill>
          <a:ln w="12700">
            <a:solidFill>
              <a:srgbClr val="FCF6F5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9" name="Text 6"/>
          <p:cNvSpPr/>
          <p:nvPr/>
        </p:nvSpPr>
        <p:spPr>
          <a:xfrm>
            <a:off x="457200" y="66019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Swiss Rent Radar  ·  Scientific Programming FS2026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972800" y="66019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1274</Words>
  <Application>Microsoft Office PowerPoint</Application>
  <PresentationFormat>Breitbild</PresentationFormat>
  <Paragraphs>247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ZHAW — Wirtschaftsinformatik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Swiss Rent Radar</dc:title>
  <dc:subject>PptxGenJS Presentation</dc:subject>
  <dc:creator>Marko Vukcevic &amp; Aladin Kermo</dc:creator>
  <cp:lastModifiedBy>Kermo Aladin</cp:lastModifiedBy>
  <cp:revision>3</cp:revision>
  <dcterms:created xsi:type="dcterms:W3CDTF">2026-05-05T18:35:17Z</dcterms:created>
  <dcterms:modified xsi:type="dcterms:W3CDTF">2026-05-21T15:14:39Z</dcterms:modified>
</cp:coreProperties>
</file>